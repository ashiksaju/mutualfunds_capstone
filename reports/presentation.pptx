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Nunito"/>
      <p:regular r:id="rId22"/>
      <p:bold r:id="rId23"/>
      <p:italic r:id="rId24"/>
      <p:boldItalic r:id="rId25"/>
    </p:embeddedFont>
    <p:embeddedFont>
      <p:font typeface="Maven Pro"/>
      <p:regular r:id="rId26"/>
      <p:bold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Nunito-regular.fntdata"/><Relationship Id="rId21" Type="http://schemas.openxmlformats.org/officeDocument/2006/relationships/slide" Target="slides/slide16.xml"/><Relationship Id="rId24" Type="http://schemas.openxmlformats.org/officeDocument/2006/relationships/font" Target="fonts/Nunito-italic.fntdata"/><Relationship Id="rId23" Type="http://schemas.openxmlformats.org/officeDocument/2006/relationships/font" Target="fonts/Nuni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MavenPro-regular.fntdata"/><Relationship Id="rId25" Type="http://schemas.openxmlformats.org/officeDocument/2006/relationships/font" Target="fonts/Nunito-boldItalic.fntdata"/><Relationship Id="rId27" Type="http://schemas.openxmlformats.org/officeDocument/2006/relationships/font" Target="fonts/MavenPro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f35a17557b_0_2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f35a17557b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f35a17557b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f35a17557b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f35a17557b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f35a17557b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35a17557b_0_2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f35a17557b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f35a17557b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f35a17557b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f35a17557b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f35a17557b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f35a17557b_0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3" name="Google Shape;323;g3f35a17557b_0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35a17557b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35a17557b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f35a17557b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f35a17557b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f35a17557b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3f35a17557b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f35a17557b_0_3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f35a17557b_0_3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f35a17557b_0_3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5" name="Google Shape;355;g3f35a17557b_0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f35a17557b_0_3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f35a17557b_0_3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f35a17557b_0_3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f35a17557b_0_3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f35a17557b_0_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f35a17557b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0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0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19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917600" y="980100"/>
            <a:ext cx="76719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Bluestock Mutual Fund Analytics </a:t>
            </a:r>
            <a:endParaRPr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1004000" y="2372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Bluestock Mutual Fund Analytics 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79" name="Google Shape;279;p13"/>
          <p:cNvSpPr txBox="1"/>
          <p:nvPr/>
        </p:nvSpPr>
        <p:spPr>
          <a:xfrm>
            <a:off x="1004000" y="2853000"/>
            <a:ext cx="3096000" cy="7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Presented By:</a:t>
            </a:r>
            <a:r>
              <a:rPr lang="en-GB" sz="1100">
                <a:solidFill>
                  <a:schemeClr val="lt1"/>
                </a:solidFill>
                <a:latin typeface="Maven Pro"/>
                <a:ea typeface="Maven Pro"/>
                <a:cs typeface="Maven Pro"/>
                <a:sym typeface="Maven Pro"/>
              </a:rPr>
              <a:t> Ashik Saju </a:t>
            </a:r>
            <a:endParaRPr sz="1300">
              <a:solidFill>
                <a:schemeClr val="lt1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Overview </a:t>
            </a:r>
            <a:endParaRPr/>
          </a:p>
        </p:txBody>
      </p:sp>
      <p:sp>
        <p:nvSpPr>
          <p:cNvPr id="285" name="Google Shape;285;p14"/>
          <p:cNvSpPr txBox="1"/>
          <p:nvPr>
            <p:ph idx="1" type="body"/>
          </p:nvPr>
        </p:nvSpPr>
        <p:spPr>
          <a:xfrm>
            <a:off x="1303800" y="1597875"/>
            <a:ext cx="7030500" cy="86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Mutual fund datasets contain valuable information regarding fund performance, investor behaviour, portfolio allocation, and market risk. However, raw financial data cannot directly support investment decisions. 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86" name="Google Shape;286;p14"/>
          <p:cNvSpPr txBox="1"/>
          <p:nvPr/>
        </p:nvSpPr>
        <p:spPr>
          <a:xfrm>
            <a:off x="1425600" y="1346400"/>
            <a:ext cx="414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1461600" y="2440800"/>
            <a:ext cx="4226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Solution</a:t>
            </a:r>
            <a:endParaRPr b="1" sz="13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  <p:sp>
        <p:nvSpPr>
          <p:cNvPr id="288" name="Google Shape;288;p14"/>
          <p:cNvSpPr txBox="1"/>
          <p:nvPr/>
        </p:nvSpPr>
        <p:spPr>
          <a:xfrm>
            <a:off x="1425600" y="2825700"/>
            <a:ext cx="5241600" cy="23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Develop an end-to-end Mutual Fund Analytics platform that: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GB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Automates data ingestion and cleaning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Calculates financial performance metrics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Performs advanced risk analytics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Analyses investor behaviour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Visualizes insights through Power BI dashboards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GB"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Recommends funds based on investor risk appetite</a:t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89" name="Google Shape;289;p14"/>
          <p:cNvSpPr txBox="1"/>
          <p:nvPr/>
        </p:nvSpPr>
        <p:spPr>
          <a:xfrm>
            <a:off x="1461600" y="1212975"/>
            <a:ext cx="4147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Problem statement</a:t>
            </a:r>
            <a:endParaRPr b="1" sz="13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Project objectives</a:t>
            </a:r>
            <a:endParaRPr/>
          </a:p>
        </p:txBody>
      </p:sp>
      <p:sp>
        <p:nvSpPr>
          <p:cNvPr id="295" name="Google Shape;295;p15"/>
          <p:cNvSpPr txBox="1"/>
          <p:nvPr>
            <p:ph idx="1" type="body"/>
          </p:nvPr>
        </p:nvSpPr>
        <p:spPr>
          <a:xfrm>
            <a:off x="1303800" y="1713600"/>
            <a:ext cx="7030500" cy="281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794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4"/>
              <a:buFont typeface="Maven Pro"/>
              <a:buChar char="●"/>
            </a:pPr>
            <a:r>
              <a:rPr lang="en-GB" sz="1564">
                <a:latin typeface="Maven Pro"/>
                <a:ea typeface="Maven Pro"/>
                <a:cs typeface="Maven Pro"/>
                <a:sym typeface="Maven Pro"/>
              </a:rPr>
              <a:t>Develop an automated ETL pipeline</a:t>
            </a:r>
            <a:endParaRPr sz="1564">
              <a:latin typeface="Maven Pro"/>
              <a:ea typeface="Maven Pro"/>
              <a:cs typeface="Maven Pro"/>
              <a:sym typeface="Maven Pro"/>
            </a:endParaRPr>
          </a:p>
          <a:p>
            <a:pPr indent="-32794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4"/>
              <a:buFont typeface="Maven Pro"/>
              <a:buChar char="●"/>
            </a:pPr>
            <a:r>
              <a:rPr lang="en-GB" sz="1564">
                <a:latin typeface="Maven Pro"/>
                <a:ea typeface="Maven Pro"/>
                <a:cs typeface="Maven Pro"/>
                <a:sym typeface="Maven Pro"/>
              </a:rPr>
              <a:t>Clean and validate financial datasets</a:t>
            </a:r>
            <a:endParaRPr sz="1564">
              <a:latin typeface="Maven Pro"/>
              <a:ea typeface="Maven Pro"/>
              <a:cs typeface="Maven Pro"/>
              <a:sym typeface="Maven Pro"/>
            </a:endParaRPr>
          </a:p>
          <a:p>
            <a:pPr indent="-32794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4"/>
              <a:buFont typeface="Maven Pro"/>
              <a:buChar char="●"/>
            </a:pPr>
            <a:r>
              <a:rPr lang="en-GB" sz="1564">
                <a:latin typeface="Maven Pro"/>
                <a:ea typeface="Maven Pro"/>
                <a:cs typeface="Maven Pro"/>
                <a:sym typeface="Maven Pro"/>
              </a:rPr>
              <a:t>Store processed data in SQLite</a:t>
            </a:r>
            <a:endParaRPr sz="1564">
              <a:latin typeface="Maven Pro"/>
              <a:ea typeface="Maven Pro"/>
              <a:cs typeface="Maven Pro"/>
              <a:sym typeface="Maven Pro"/>
            </a:endParaRPr>
          </a:p>
          <a:p>
            <a:pPr indent="-32794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4"/>
              <a:buFont typeface="Maven Pro"/>
              <a:buChar char="●"/>
            </a:pPr>
            <a:r>
              <a:rPr lang="en-GB" sz="1564">
                <a:latin typeface="Maven Pro"/>
                <a:ea typeface="Maven Pro"/>
                <a:cs typeface="Maven Pro"/>
                <a:sym typeface="Maven Pro"/>
              </a:rPr>
              <a:t>Perform Exploratory Data Analysis (EDA)</a:t>
            </a:r>
            <a:endParaRPr sz="1564">
              <a:latin typeface="Maven Pro"/>
              <a:ea typeface="Maven Pro"/>
              <a:cs typeface="Maven Pro"/>
              <a:sym typeface="Maven Pro"/>
            </a:endParaRPr>
          </a:p>
          <a:p>
            <a:pPr indent="-32794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4"/>
              <a:buFont typeface="Maven Pro"/>
              <a:buChar char="●"/>
            </a:pPr>
            <a:r>
              <a:rPr lang="en-GB" sz="1564">
                <a:latin typeface="Maven Pro"/>
                <a:ea typeface="Maven Pro"/>
                <a:cs typeface="Maven Pro"/>
                <a:sym typeface="Maven Pro"/>
              </a:rPr>
              <a:t>Calculate financial performance metrics</a:t>
            </a:r>
            <a:endParaRPr sz="1564">
              <a:latin typeface="Maven Pro"/>
              <a:ea typeface="Maven Pro"/>
              <a:cs typeface="Maven Pro"/>
              <a:sym typeface="Maven Pro"/>
            </a:endParaRPr>
          </a:p>
          <a:p>
            <a:pPr indent="-32794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4"/>
              <a:buFont typeface="Maven Pro"/>
              <a:buChar char="●"/>
            </a:pPr>
            <a:r>
              <a:rPr lang="en-GB" sz="1564">
                <a:latin typeface="Maven Pro"/>
                <a:ea typeface="Maven Pro"/>
                <a:cs typeface="Maven Pro"/>
                <a:sym typeface="Maven Pro"/>
              </a:rPr>
              <a:t>Perform advanced risk analytics</a:t>
            </a:r>
            <a:endParaRPr sz="1564">
              <a:latin typeface="Maven Pro"/>
              <a:ea typeface="Maven Pro"/>
              <a:cs typeface="Maven Pro"/>
              <a:sym typeface="Maven Pro"/>
            </a:endParaRPr>
          </a:p>
          <a:p>
            <a:pPr indent="-32794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4"/>
              <a:buFont typeface="Maven Pro"/>
              <a:buChar char="●"/>
            </a:pPr>
            <a:r>
              <a:rPr lang="en-GB" sz="1564">
                <a:latin typeface="Maven Pro"/>
                <a:ea typeface="Maven Pro"/>
                <a:cs typeface="Maven Pro"/>
                <a:sym typeface="Maven Pro"/>
              </a:rPr>
              <a:t>Analyse investor behaviour</a:t>
            </a:r>
            <a:endParaRPr sz="1564">
              <a:latin typeface="Maven Pro"/>
              <a:ea typeface="Maven Pro"/>
              <a:cs typeface="Maven Pro"/>
              <a:sym typeface="Maven Pro"/>
            </a:endParaRPr>
          </a:p>
          <a:p>
            <a:pPr indent="-32794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4"/>
              <a:buFont typeface="Maven Pro"/>
              <a:buChar char="●"/>
            </a:pPr>
            <a:r>
              <a:rPr lang="en-GB" sz="1564">
                <a:latin typeface="Maven Pro"/>
                <a:ea typeface="Maven Pro"/>
                <a:cs typeface="Maven Pro"/>
                <a:sym typeface="Maven Pro"/>
              </a:rPr>
              <a:t>Evaluate portfolio diversification</a:t>
            </a:r>
            <a:endParaRPr sz="1564">
              <a:latin typeface="Maven Pro"/>
              <a:ea typeface="Maven Pro"/>
              <a:cs typeface="Maven Pro"/>
              <a:sym typeface="Maven Pro"/>
            </a:endParaRPr>
          </a:p>
          <a:p>
            <a:pPr indent="-32794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4"/>
              <a:buFont typeface="Maven Pro"/>
              <a:buChar char="●"/>
            </a:pPr>
            <a:r>
              <a:rPr lang="en-GB" sz="1564">
                <a:latin typeface="Maven Pro"/>
                <a:ea typeface="Maven Pro"/>
                <a:cs typeface="Maven Pro"/>
                <a:sym typeface="Maven Pro"/>
              </a:rPr>
              <a:t>Build an interactive Power BI dashboard</a:t>
            </a:r>
            <a:endParaRPr sz="1564">
              <a:latin typeface="Maven Pro"/>
              <a:ea typeface="Maven Pro"/>
              <a:cs typeface="Maven Pro"/>
              <a:sym typeface="Maven Pro"/>
            </a:endParaRPr>
          </a:p>
          <a:p>
            <a:pPr indent="-327941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564"/>
              <a:buFont typeface="Maven Pro"/>
              <a:buChar char="●"/>
            </a:pPr>
            <a:r>
              <a:rPr lang="en-GB" sz="1564">
                <a:latin typeface="Maven Pro"/>
                <a:ea typeface="Maven Pro"/>
                <a:cs typeface="Maven Pro"/>
                <a:sym typeface="Maven Pro"/>
              </a:rPr>
              <a:t>Develop a rule-based mutual fund recommendation system</a:t>
            </a:r>
            <a:endParaRPr sz="1564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325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Datasets used</a:t>
            </a:r>
            <a:endParaRPr/>
          </a:p>
        </p:txBody>
      </p:sp>
      <p:sp>
        <p:nvSpPr>
          <p:cNvPr id="301" name="Google Shape;301;p16"/>
          <p:cNvSpPr txBox="1"/>
          <p:nvPr>
            <p:ph idx="1" type="body"/>
          </p:nvPr>
        </p:nvSpPr>
        <p:spPr>
          <a:xfrm>
            <a:off x="1340225" y="1378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Fund Master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NAV History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Scheme Performance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Investor Transactions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Portfolio Holdings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Benchmark Indices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AUM by Fund House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Monthly SIP Inflows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Each dataset was cleaned, validated, and integrated using the ETL pipeline before analysis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02" name="Google Shape;302;p16" title="Screenshot 2026-07-07 152801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6100" y="763200"/>
            <a:ext cx="1952625" cy="20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 txBox="1"/>
          <p:nvPr>
            <p:ph type="title"/>
          </p:nvPr>
        </p:nvSpPr>
        <p:spPr>
          <a:xfrm>
            <a:off x="1303800" y="598575"/>
            <a:ext cx="7030500" cy="5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ETL Pipeline </a:t>
            </a:r>
            <a:endParaRPr/>
          </a:p>
        </p:txBody>
      </p:sp>
      <p:sp>
        <p:nvSpPr>
          <p:cNvPr id="308" name="Google Shape;308;p17"/>
          <p:cNvSpPr txBox="1"/>
          <p:nvPr>
            <p:ph idx="1" type="body"/>
          </p:nvPr>
        </p:nvSpPr>
        <p:spPr>
          <a:xfrm>
            <a:off x="1303800" y="1123200"/>
            <a:ext cx="7030500" cy="39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Raw CSV Files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    ↓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Data Cleaning &amp; Validation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                                                                                                 ↓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Processed CSV Files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     ↓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SQLite Database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      ↓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Python Analytics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      ↓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Power BI Dashboard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     ↓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440"/>
              <a:buNone/>
            </a:pPr>
            <a:r>
              <a:rPr b="1" lang="en-GB" sz="1020">
                <a:latin typeface="Maven Pro"/>
                <a:ea typeface="Maven Pro"/>
                <a:cs typeface="Maven Pro"/>
                <a:sym typeface="Maven Pro"/>
              </a:rPr>
              <a:t>Business Insights</a:t>
            </a:r>
            <a:endParaRPr b="1" sz="102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440"/>
              <a:buNone/>
            </a:pPr>
            <a:r>
              <a:t/>
            </a:r>
            <a:endParaRPr sz="52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ETL Activities </a:t>
            </a:r>
            <a:endParaRPr/>
          </a:p>
        </p:txBody>
      </p:sp>
      <p:sp>
        <p:nvSpPr>
          <p:cNvPr id="314" name="Google Shape;314;p18"/>
          <p:cNvSpPr txBox="1"/>
          <p:nvPr>
            <p:ph idx="1" type="body"/>
          </p:nvPr>
        </p:nvSpPr>
        <p:spPr>
          <a:xfrm>
            <a:off x="1303800" y="1558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●"/>
            </a:pPr>
            <a:r>
              <a:rPr lang="en-GB" sz="1500">
                <a:latin typeface="Maven Pro"/>
                <a:ea typeface="Maven Pro"/>
                <a:cs typeface="Maven Pro"/>
                <a:sym typeface="Maven Pro"/>
              </a:rPr>
              <a:t>Data extraction</a:t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●"/>
            </a:pPr>
            <a:r>
              <a:rPr lang="en-GB" sz="1500">
                <a:latin typeface="Maven Pro"/>
                <a:ea typeface="Maven Pro"/>
                <a:cs typeface="Maven Pro"/>
                <a:sym typeface="Maven Pro"/>
              </a:rPr>
              <a:t>Missing value handling</a:t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●"/>
            </a:pPr>
            <a:r>
              <a:rPr lang="en-GB" sz="1500">
                <a:latin typeface="Maven Pro"/>
                <a:ea typeface="Maven Pro"/>
                <a:cs typeface="Maven Pro"/>
                <a:sym typeface="Maven Pro"/>
              </a:rPr>
              <a:t>Duplicate removal</a:t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●"/>
            </a:pPr>
            <a:r>
              <a:rPr lang="en-GB" sz="1500">
                <a:latin typeface="Maven Pro"/>
                <a:ea typeface="Maven Pro"/>
                <a:cs typeface="Maven Pro"/>
                <a:sym typeface="Maven Pro"/>
              </a:rPr>
              <a:t>Data validation</a:t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●"/>
            </a:pPr>
            <a:r>
              <a:rPr lang="en-GB" sz="1500">
                <a:latin typeface="Maven Pro"/>
                <a:ea typeface="Maven Pro"/>
                <a:cs typeface="Maven Pro"/>
                <a:sym typeface="Maven Pro"/>
              </a:rPr>
              <a:t>SQLite loading</a:t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Exploratory Data Analysis </a:t>
            </a:r>
            <a:endParaRPr/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1303800" y="14788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The following analyses were performed: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Historical NAV Trend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Benchmark Performance Trend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Assets Under Management by Fund House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Monthly SIP Inflows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>
                <a:latin typeface="Maven Pro"/>
                <a:ea typeface="Maven Pro"/>
                <a:cs typeface="Maven Pro"/>
                <a:sym typeface="Maven Pro"/>
              </a:rPr>
              <a:t>Category-wise Fund Distribution</a:t>
            </a:r>
            <a:endParaRPr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Performance Analytics </a:t>
            </a:r>
            <a:endParaRPr/>
          </a:p>
        </p:txBody>
      </p:sp>
      <p:sp>
        <p:nvSpPr>
          <p:cNvPr id="326" name="Google Shape;326;p20"/>
          <p:cNvSpPr txBox="1"/>
          <p:nvPr>
            <p:ph idx="1" type="body"/>
          </p:nvPr>
        </p:nvSpPr>
        <p:spPr>
          <a:xfrm>
            <a:off x="1303800" y="1274400"/>
            <a:ext cx="7030500" cy="32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Financial metrics calculated:</a:t>
            </a:r>
            <a:endParaRPr b="1"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332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aven Pro"/>
              <a:buChar char="●"/>
            </a:pPr>
            <a:r>
              <a:rPr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CAGR</a:t>
            </a:r>
            <a:endParaRPr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332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aven Pro"/>
              <a:buChar char="●"/>
            </a:pPr>
            <a:r>
              <a:rPr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Sharpe Ratio</a:t>
            </a:r>
            <a:endParaRPr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332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aven Pro"/>
              <a:buChar char="●"/>
            </a:pPr>
            <a:r>
              <a:rPr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Sortino Ratio</a:t>
            </a:r>
            <a:endParaRPr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332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aven Pro"/>
              <a:buChar char="●"/>
            </a:pPr>
            <a:r>
              <a:rPr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Alpha</a:t>
            </a:r>
            <a:endParaRPr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332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aven Pro"/>
              <a:buChar char="●"/>
            </a:pPr>
            <a:r>
              <a:rPr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Beta</a:t>
            </a:r>
            <a:endParaRPr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332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aven Pro"/>
              <a:buChar char="●"/>
            </a:pPr>
            <a:r>
              <a:rPr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Maximum Drawdown</a:t>
            </a:r>
            <a:endParaRPr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332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aven Pro"/>
              <a:buChar char="●"/>
            </a:pPr>
            <a:r>
              <a:rPr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Tracking Error</a:t>
            </a:r>
            <a:endParaRPr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993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Key Findings</a:t>
            </a:r>
            <a:endParaRPr b="1" sz="1993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3323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aven Pro"/>
              <a:buChar char="●"/>
            </a:pPr>
            <a:r>
              <a:rPr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Risk-adjusted performance varied significantly across schemes.</a:t>
            </a:r>
            <a:endParaRPr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332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aven Pro"/>
              <a:buChar char="●"/>
            </a:pPr>
            <a:r>
              <a:rPr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High Sharpe Ratio funds delivered superior returns relative to volatility.</a:t>
            </a:r>
            <a:endParaRPr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3323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Maven Pro"/>
              <a:buChar char="●"/>
            </a:pPr>
            <a:r>
              <a:rPr lang="en-GB" sz="2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Alpha and Beta provided insights into benchmark performance.</a:t>
            </a:r>
            <a:endParaRPr sz="2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327" name="Google Shape;327;p20" title="Screenshot 2026-07-07 1540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53600" y="1490400"/>
            <a:ext cx="4593600" cy="1831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Advanced Analytics </a:t>
            </a:r>
            <a:endParaRPr/>
          </a:p>
        </p:txBody>
      </p:sp>
      <p:sp>
        <p:nvSpPr>
          <p:cNvPr id="333" name="Google Shape;333;p21"/>
          <p:cNvSpPr txBox="1"/>
          <p:nvPr>
            <p:ph idx="1" type="body"/>
          </p:nvPr>
        </p:nvSpPr>
        <p:spPr>
          <a:xfrm>
            <a:off x="1303800" y="1597875"/>
            <a:ext cx="7030500" cy="331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 sz="11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Historical Value at Risk (VaR)</a:t>
            </a:r>
            <a:endParaRPr sz="11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 sz="11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Conditional Value at Risk (CVaR)</a:t>
            </a:r>
            <a:endParaRPr sz="11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 sz="11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Rolling 90-Day Sharpe Ratio</a:t>
            </a:r>
            <a:endParaRPr sz="11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 sz="11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Investor Cohort Analysis</a:t>
            </a:r>
            <a:endParaRPr sz="11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 sz="11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SIP Continuity Analysis</a:t>
            </a:r>
            <a:endParaRPr sz="11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 sz="11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Portfolio Concentration (HHI)</a:t>
            </a:r>
            <a:endParaRPr sz="11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Key Findings</a:t>
            </a:r>
            <a:endParaRPr b="1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 sz="11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VaR and CVaR quantified downside risk.</a:t>
            </a:r>
            <a:endParaRPr sz="11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 sz="11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Rolling Sharpe highlighted changes in risk-adjusted performance.</a:t>
            </a:r>
            <a:endParaRPr sz="11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 sz="11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Cohort and SIP analyses revealed investor behaviour trends.</a:t>
            </a:r>
            <a:endParaRPr sz="11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Maven Pro"/>
              <a:buChar char="●"/>
            </a:pPr>
            <a:r>
              <a:rPr lang="en-GB" sz="11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HHI measured portfolio diversification.</a:t>
            </a:r>
            <a:endParaRPr sz="11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22" title="Screenshot 2026-07-07 15455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200" y="611150"/>
            <a:ext cx="4584226" cy="204215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2" title="Screenshot 2026-07-07 15462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225" y="3472600"/>
            <a:ext cx="2838375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2" title="Screenshot 2026-07-07 154702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01575" y="3472600"/>
            <a:ext cx="5412826" cy="1339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2" title="Screenshot 2026-07-07 154832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96074" y="564450"/>
            <a:ext cx="4047925" cy="213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3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Mutual Fund Recommendation System </a:t>
            </a:r>
            <a:endParaRPr/>
          </a:p>
        </p:txBody>
      </p:sp>
      <p:sp>
        <p:nvSpPr>
          <p:cNvPr id="347" name="Google Shape;347;p23"/>
          <p:cNvSpPr txBox="1"/>
          <p:nvPr>
            <p:ph idx="1" type="body"/>
          </p:nvPr>
        </p:nvSpPr>
        <p:spPr>
          <a:xfrm>
            <a:off x="1303800" y="1404000"/>
            <a:ext cx="7030500" cy="347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A rule-based recommendation engine was developed.</a:t>
            </a:r>
            <a:endParaRPr sz="1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-GB" sz="130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Input</a:t>
            </a:r>
            <a:endParaRPr b="1" sz="130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Investor Risk Appetite</a:t>
            </a:r>
            <a:endParaRPr sz="1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06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Maven Pro"/>
              <a:buChar char="●"/>
            </a:pPr>
            <a:r>
              <a:rPr lang="en-GB" sz="1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Low</a:t>
            </a:r>
            <a:endParaRPr sz="1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06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Maven Pro"/>
              <a:buChar char="●"/>
            </a:pPr>
            <a:r>
              <a:rPr lang="en-GB" sz="1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Moderate</a:t>
            </a:r>
            <a:endParaRPr sz="1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06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Maven Pro"/>
              <a:buChar char="●"/>
            </a:pPr>
            <a:r>
              <a:rPr lang="en-GB" sz="1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High</a:t>
            </a:r>
            <a:endParaRPr sz="1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-GB" sz="130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Processing</a:t>
            </a:r>
            <a:endParaRPr b="1" sz="130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0673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Maven Pro"/>
              <a:buChar char="●"/>
            </a:pPr>
            <a:r>
              <a:rPr lang="en-GB" sz="1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Filter funds based on risk category</a:t>
            </a:r>
            <a:endParaRPr sz="1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06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Maven Pro"/>
              <a:buChar char="●"/>
            </a:pPr>
            <a:r>
              <a:rPr lang="en-GB" sz="1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Rank using Sharpe Ratio</a:t>
            </a:r>
            <a:endParaRPr sz="1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00673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35"/>
              <a:buFont typeface="Maven Pro"/>
              <a:buChar char="●"/>
            </a:pPr>
            <a:r>
              <a:rPr lang="en-GB" sz="1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Recommend the top-performing schemes</a:t>
            </a:r>
            <a:endParaRPr sz="1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n-GB" sz="130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Output</a:t>
            </a:r>
            <a:endParaRPr b="1" sz="130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rPr lang="en-GB" sz="1135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Top three mutual fund recommendations matching the selected risk profile.</a:t>
            </a:r>
            <a:endParaRPr sz="1135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105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24" title="Screenshot 2026-07-07 155639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100" y="511200"/>
            <a:ext cx="6524625" cy="3751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Interactive Power BI Dashboard </a:t>
            </a:r>
            <a:endParaRPr/>
          </a:p>
        </p:txBody>
      </p:sp>
      <p:sp>
        <p:nvSpPr>
          <p:cNvPr id="358" name="Google Shape;358;p25"/>
          <p:cNvSpPr txBox="1"/>
          <p:nvPr>
            <p:ph idx="1" type="body"/>
          </p:nvPr>
        </p:nvSpPr>
        <p:spPr>
          <a:xfrm>
            <a:off x="1303800" y="1382400"/>
            <a:ext cx="7030500" cy="314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The dashboard consists of four pages:</a:t>
            </a:r>
            <a:endParaRPr sz="14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-GB" sz="14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Executive Overview</a:t>
            </a:r>
            <a:endParaRPr sz="14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-GB" sz="14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Performance Analytics</a:t>
            </a:r>
            <a:endParaRPr sz="14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-GB" sz="14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Investor Analytics</a:t>
            </a:r>
            <a:endParaRPr sz="14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-GB" sz="14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Portfolio Analytics</a:t>
            </a:r>
            <a:endParaRPr sz="14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0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Features</a:t>
            </a:r>
            <a:endParaRPr b="1" sz="16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-GB" sz="14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Interactive slicers</a:t>
            </a:r>
            <a:endParaRPr sz="14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-GB" sz="14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Dynamic charts</a:t>
            </a:r>
            <a:endParaRPr sz="14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-GB" sz="14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KPIs</a:t>
            </a:r>
            <a:endParaRPr sz="14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-GB" sz="14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Drill-down analysis</a:t>
            </a:r>
            <a:endParaRPr sz="14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1750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Maven Pro"/>
              <a:buChar char="●"/>
            </a:pPr>
            <a:r>
              <a:rPr lang="en-GB" sz="14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Business-friendly visualizations</a:t>
            </a:r>
            <a:endParaRPr sz="14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26" title="Screenshot 2026-07-07 13302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02801" cy="215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6" title="Screenshot 2026-07-07 1330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8000" y="81750"/>
            <a:ext cx="4319075" cy="2410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6" title="Screenshot 2026-07-07 13304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44950"/>
            <a:ext cx="4102801" cy="2290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6" title="Screenshot 2026-07-07 133054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6138" y="2643745"/>
            <a:ext cx="4102800" cy="2293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Findings</a:t>
            </a:r>
            <a:endParaRPr/>
          </a:p>
        </p:txBody>
      </p:sp>
      <p:sp>
        <p:nvSpPr>
          <p:cNvPr id="372" name="Google Shape;372;p27"/>
          <p:cNvSpPr txBox="1"/>
          <p:nvPr>
            <p:ph idx="1" type="body"/>
          </p:nvPr>
        </p:nvSpPr>
        <p:spPr>
          <a:xfrm>
            <a:off x="1303800" y="14644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●"/>
            </a:pPr>
            <a:r>
              <a:rPr lang="en-GB" sz="1500">
                <a:latin typeface="Maven Pro"/>
                <a:ea typeface="Maven Pro"/>
                <a:cs typeface="Maven Pro"/>
                <a:sym typeface="Maven Pro"/>
              </a:rPr>
              <a:t>Funds with higher Sharpe Ratios generated better risk-adjusted returns.</a:t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●"/>
            </a:pPr>
            <a:r>
              <a:rPr lang="en-GB" sz="1500">
                <a:latin typeface="Maven Pro"/>
                <a:ea typeface="Maven Pro"/>
                <a:cs typeface="Maven Pro"/>
                <a:sym typeface="Maven Pro"/>
              </a:rPr>
              <a:t>Historical VaR and CVaR identified funds with greater downside exposure.</a:t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●"/>
            </a:pPr>
            <a:r>
              <a:rPr lang="en-GB" sz="1500">
                <a:latin typeface="Maven Pro"/>
                <a:ea typeface="Maven Pro"/>
                <a:cs typeface="Maven Pro"/>
                <a:sym typeface="Maven Pro"/>
              </a:rPr>
              <a:t>Investor cohort analysis showed increasing SIP participation among recent investors.</a:t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●"/>
            </a:pPr>
            <a:r>
              <a:rPr lang="en-GB" sz="1500">
                <a:latin typeface="Maven Pro"/>
                <a:ea typeface="Maven Pro"/>
                <a:cs typeface="Maven Pro"/>
                <a:sym typeface="Maven Pro"/>
              </a:rPr>
              <a:t>SIP continuity analysis identified investors at risk of discontinuing investments.</a:t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Font typeface="Maven Pro"/>
              <a:buChar char="●"/>
            </a:pPr>
            <a:r>
              <a:rPr lang="en-GB" sz="1500">
                <a:latin typeface="Maven Pro"/>
                <a:ea typeface="Maven Pro"/>
                <a:cs typeface="Maven Pro"/>
                <a:sym typeface="Maven Pro"/>
              </a:rPr>
              <a:t>Portfolio concentration analysis highlighted diversification differences among funds.</a:t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Conclusion</a:t>
            </a:r>
            <a:endParaRPr/>
          </a:p>
        </p:txBody>
      </p:sp>
      <p:sp>
        <p:nvSpPr>
          <p:cNvPr id="378" name="Google Shape;378;p28"/>
          <p:cNvSpPr txBox="1"/>
          <p:nvPr>
            <p:ph idx="1" type="body"/>
          </p:nvPr>
        </p:nvSpPr>
        <p:spPr>
          <a:xfrm>
            <a:off x="1303800" y="1173600"/>
            <a:ext cx="7030500" cy="32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238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aven Pro"/>
              <a:buChar char="●"/>
            </a:pPr>
            <a:r>
              <a:rPr lang="en-GB" sz="15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Successfully built an end-to-end mutual fund analytics platform.</a:t>
            </a:r>
            <a:endParaRPr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aven Pro"/>
              <a:buChar char="●"/>
            </a:pPr>
            <a:r>
              <a:rPr lang="en-GB" sz="15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Automated ETL and data preprocessing.</a:t>
            </a:r>
            <a:endParaRPr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aven Pro"/>
              <a:buChar char="●"/>
            </a:pPr>
            <a:r>
              <a:rPr lang="en-GB" sz="15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Calculated financial and risk metrics.</a:t>
            </a:r>
            <a:endParaRPr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aven Pro"/>
              <a:buChar char="●"/>
            </a:pPr>
            <a:r>
              <a:rPr lang="en-GB" sz="15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Developed investor and portfolio analytics.</a:t>
            </a:r>
            <a:endParaRPr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aven Pro"/>
              <a:buChar char="●"/>
            </a:pPr>
            <a:r>
              <a:rPr lang="en-GB" sz="15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Built an interactive Power BI dashboard.</a:t>
            </a:r>
            <a:endParaRPr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Maven Pro"/>
              <a:buChar char="●"/>
            </a:pPr>
            <a:r>
              <a:rPr lang="en-GB" sz="1500">
                <a:solidFill>
                  <a:srgbClr val="000000"/>
                </a:solidFill>
                <a:latin typeface="Maven Pro"/>
                <a:ea typeface="Maven Pro"/>
                <a:cs typeface="Maven Pro"/>
                <a:sym typeface="Maven Pro"/>
              </a:rPr>
              <a:t>Implemented a rule-based recommendation system.</a:t>
            </a:r>
            <a:endParaRPr sz="1500">
              <a:solidFill>
                <a:srgbClr val="000000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l"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2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